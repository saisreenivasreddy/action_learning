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Qwen2.5-1.5B (best=L15, 54%)</c:v>
                </c:pt>
              </c:strCache>
            </c:strRef>
          </c:tx>
          <c:spPr>
            <a:solidFill>
              <a:srgbClr val="0D9488"/>
            </a:solidFill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0.775</c:v>
                </c:pt>
                <c:pt idx="1">
                  <c:v>0.785</c:v>
                </c:pt>
                <c:pt idx="2">
                  <c:v>0.753</c:v>
                </c:pt>
                <c:pt idx="3">
                  <c:v>0.698</c:v>
                </c:pt>
                <c:pt idx="4">
                  <c:v>0.67</c:v>
                </c:pt>
                <c:pt idx="5">
                  <c:v>0.773</c:v>
                </c:pt>
                <c:pt idx="6">
                  <c:v>0.764</c:v>
                </c:pt>
                <c:pt idx="7">
                  <c:v>0.775</c:v>
                </c:pt>
                <c:pt idx="8">
                  <c:v>0.81</c:v>
                </c:pt>
                <c:pt idx="9">
                  <c:v>0.809</c:v>
                </c:pt>
                <c:pt idx="10">
                  <c:v>0.795</c:v>
                </c:pt>
                <c:pt idx="11">
                  <c:v>0.752</c:v>
                </c:pt>
                <c:pt idx="12">
                  <c:v>0.849</c:v>
                </c:pt>
                <c:pt idx="13">
                  <c:v>0.806</c:v>
                </c:pt>
                <c:pt idx="14">
                  <c:v>0.882</c:v>
                </c:pt>
                <c:pt idx="15">
                  <c:v>0.794</c:v>
                </c:pt>
                <c:pt idx="16">
                  <c:v>0.849</c:v>
                </c:pt>
                <c:pt idx="17">
                  <c:v>0.798</c:v>
                </c:pt>
                <c:pt idx="18">
                  <c:v>0.823</c:v>
                </c:pt>
                <c:pt idx="19">
                  <c:v>0.865</c:v>
                </c:pt>
                <c:pt idx="20">
                  <c:v>0.828</c:v>
                </c:pt>
                <c:pt idx="21">
                  <c:v>0.81</c:v>
                </c:pt>
                <c:pt idx="22">
                  <c:v>0.767</c:v>
                </c:pt>
                <c:pt idx="23">
                  <c:v>0.827</c:v>
                </c:pt>
                <c:pt idx="24">
                  <c:v>0.797</c:v>
                </c:pt>
                <c:pt idx="25">
                  <c:v>0.807</c:v>
                </c:pt>
                <c:pt idx="26">
                  <c:v>0.799</c:v>
                </c:pt>
                <c:pt idx="27">
                  <c:v>0.784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Llama-3.2-1B (best=L12, 75%)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0.787</c:v>
                </c:pt>
                <c:pt idx="1">
                  <c:v>0.748</c:v>
                </c:pt>
                <c:pt idx="2">
                  <c:v>0.74</c:v>
                </c:pt>
                <c:pt idx="3">
                  <c:v>0.749</c:v>
                </c:pt>
                <c:pt idx="4">
                  <c:v>0.819</c:v>
                </c:pt>
                <c:pt idx="5">
                  <c:v>0.837</c:v>
                </c:pt>
                <c:pt idx="6">
                  <c:v>0.838</c:v>
                </c:pt>
                <c:pt idx="7">
                  <c:v>0.844</c:v>
                </c:pt>
                <c:pt idx="8">
                  <c:v>0.874</c:v>
                </c:pt>
                <c:pt idx="9">
                  <c:v>0.844</c:v>
                </c:pt>
                <c:pt idx="10">
                  <c:v>0.885</c:v>
                </c:pt>
                <c:pt idx="11">
                  <c:v>0.858</c:v>
                </c:pt>
                <c:pt idx="12">
                  <c:v>0.859</c:v>
                </c:pt>
                <c:pt idx="13">
                  <c:v>0.842</c:v>
                </c:pt>
                <c:pt idx="14">
                  <c:v>0.852</c:v>
                </c:pt>
                <c:pt idx="15">
                  <c:v>0.838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Llama-3.2-3B (best=L19, 68%)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</c:lvl>
              </c:multiLvlStrCache>
            </c:multiLvl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0.792</c:v>
                </c:pt>
                <c:pt idx="1">
                  <c:v>0.731</c:v>
                </c:pt>
                <c:pt idx="2">
                  <c:v>0.784</c:v>
                </c:pt>
                <c:pt idx="3">
                  <c:v>0.742</c:v>
                </c:pt>
                <c:pt idx="4">
                  <c:v>0.794</c:v>
                </c:pt>
                <c:pt idx="5">
                  <c:v>0.838</c:v>
                </c:pt>
                <c:pt idx="6">
                  <c:v>0.835</c:v>
                </c:pt>
                <c:pt idx="7">
                  <c:v>0.824</c:v>
                </c:pt>
                <c:pt idx="8">
                  <c:v>0.861</c:v>
                </c:pt>
                <c:pt idx="9">
                  <c:v>0.843</c:v>
                </c:pt>
                <c:pt idx="10">
                  <c:v>0.839</c:v>
                </c:pt>
                <c:pt idx="11">
                  <c:v>0.836</c:v>
                </c:pt>
                <c:pt idx="12">
                  <c:v>0.888</c:v>
                </c:pt>
                <c:pt idx="13">
                  <c:v>0.877</c:v>
                </c:pt>
                <c:pt idx="14">
                  <c:v>0.876</c:v>
                </c:pt>
                <c:pt idx="15">
                  <c:v>0.878</c:v>
                </c:pt>
                <c:pt idx="16">
                  <c:v>0.861</c:v>
                </c:pt>
                <c:pt idx="17">
                  <c:v>0.89</c:v>
                </c:pt>
                <c:pt idx="18">
                  <c:v>0.868</c:v>
                </c:pt>
                <c:pt idx="19">
                  <c:v>0.856</c:v>
                </c:pt>
                <c:pt idx="20">
                  <c:v>0.803</c:v>
                </c:pt>
                <c:pt idx="21">
                  <c:v>0.881</c:v>
                </c:pt>
                <c:pt idx="22">
                  <c:v>0.792</c:v>
                </c:pt>
                <c:pt idx="23">
                  <c:v>0.831</c:v>
                </c:pt>
                <c:pt idx="24">
                  <c:v>0.863</c:v>
                </c:pt>
                <c:pt idx="25">
                  <c:v>0.829</c:v>
                </c:pt>
                <c:pt idx="26">
                  <c:v>0.841</c:v>
                </c:pt>
                <c:pt idx="27">
                  <c:v>0.794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2"/>
          <c:min val="0.6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AUROC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Mean</c:v>
                  </c:pt>
                  <c:pt idx="1">
                    <c:v>Max</c:v>
                  </c:pt>
                  <c:pt idx="2">
                    <c:v>Top-K=4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0.564</c:v>
                </c:pt>
                <c:pt idx="1">
                  <c:v>0.578</c:v>
                </c:pt>
                <c:pt idx="2">
                  <c:v>0.583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AUROC</c:v>
                </c:pt>
              </c:strCache>
            </c:strRef>
          </c:tx>
          <c:spPr>
            <a:solidFill>
              <a:srgbClr val="B2DF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Mean</c:v>
                  </c:pt>
                  <c:pt idx="1">
                    <c:v>Max</c:v>
                  </c:pt>
                  <c:pt idx="2">
                    <c:v>Top-K=4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0.377</c:v>
                </c:pt>
                <c:pt idx="1">
                  <c:v>0.44</c:v>
                </c:pt>
                <c:pt idx="2">
                  <c:v>0.504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.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AUROC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V1 Best L15</c:v>
                  </c:pt>
                  <c:pt idx="1">
                    <c:v>V3 All-LR</c:v>
                  </c:pt>
                  <c:pt idx="2">
                    <c:v>V3 All-MLP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0.84</c:v>
                </c:pt>
                <c:pt idx="1">
                  <c:v>0.856</c:v>
                </c:pt>
                <c:pt idx="2">
                  <c:v>0.646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V1 Semantic Entropy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</c:v>
                  </c:pt>
                  <c:pt idx="1">
                    <c:v>Llama-1B</c:v>
                  </c:pt>
                  <c:pt idx="2">
                    <c:v>Llama-3B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0.588</c:v>
                </c:pt>
                <c:pt idx="1">
                  <c:v>0.516</c:v>
                </c:pt>
                <c:pt idx="2">
                  <c:v>0.572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 KLE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</c:v>
                  </c:pt>
                  <c:pt idx="1">
                    <c:v>Llama-1B</c:v>
                  </c:pt>
                  <c:pt idx="2">
                    <c:v>Llama-3B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0.612</c:v>
                </c:pt>
                <c:pt idx="1">
                  <c:v>0.535</c:v>
                </c:pt>
                <c:pt idx="2">
                  <c:v>0.634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V3 Perplexity/NLL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</c:v>
                  </c:pt>
                  <c:pt idx="1">
                    <c:v>Llama-1B</c:v>
                  </c:pt>
                  <c:pt idx="2">
                    <c:v>Llama-3B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0.722</c:v>
                </c:pt>
                <c:pt idx="1">
                  <c:v>0.752</c:v>
                </c:pt>
                <c:pt idx="2">
                  <c:v>0.785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K-Curve: AUROC vs K (Qwen)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Semantic Entropy</c:v>
                </c:pt>
              </c:strCache>
            </c:strRef>
          </c:tx>
          <c:spPr>
            <a:solidFill>
              <a:srgbClr val="94A3B8"/>
            </a:solidFill>
            <a:ln w="31750" cap="flat">
              <a:solidFill>
                <a:srgbClr val="94A3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K=1</c:v>
                  </c:pt>
                  <c:pt idx="1">
                    <c:v>K=3</c:v>
                  </c:pt>
                  <c:pt idx="2">
                    <c:v>K=5</c:v>
                  </c:pt>
                  <c:pt idx="3">
                    <c:v>K=7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0.551</c:v>
                </c:pt>
                <c:pt idx="2">
                  <c:v>0.545</c:v>
                </c:pt>
                <c:pt idx="3">
                  <c:v>0.571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KLE</c:v>
                </c:pt>
              </c:strCache>
            </c:strRef>
          </c:tx>
          <c:spPr>
            <a:solidFill>
              <a:srgbClr val="2563EB"/>
            </a:solidFill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K=1</c:v>
                  </c:pt>
                  <c:pt idx="1">
                    <c:v>K=3</c:v>
                  </c:pt>
                  <c:pt idx="2">
                    <c:v>K=5</c:v>
                  </c:pt>
                  <c:pt idx="3">
                    <c:v>K=7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</c:v>
                </c:pt>
                <c:pt idx="1">
                  <c:v>0.555</c:v>
                </c:pt>
                <c:pt idx="2">
                  <c:v>0.583</c:v>
                </c:pt>
                <c:pt idx="3">
                  <c:v>0.601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5"/>
          <c:min val="0.4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V3 PPL</c:v>
                  </c:pt>
                  <c:pt idx="1">
                    <c:v>V2 KLE*</c:v>
                  </c:pt>
                  <c:pt idx="2">
                    <c:v>V1 SE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45.7</c:v>
                </c:pt>
                <c:pt idx="1">
                  <c:v>11.6</c:v>
                </c:pt>
                <c:pt idx="2">
                  <c:v>1233.5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Medical Domain (flip-corrected)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V1 SE (flip-corr.)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</c:v>
                  </c:pt>
                  <c:pt idx="1">
                    <c:v>Llama-1B</c:v>
                  </c:pt>
                  <c:pt idx="2">
                    <c:v>Llama-3B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0.55</c:v>
                </c:pt>
                <c:pt idx="1">
                  <c:v>0.52</c:v>
                </c:pt>
                <c:pt idx="2">
                  <c:v>0.55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 KLE (flip-corr.)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</c:v>
                  </c:pt>
                  <c:pt idx="1">
                    <c:v>Llama-1B</c:v>
                  </c:pt>
                  <c:pt idx="2">
                    <c:v>Llama-3B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0.51</c:v>
                </c:pt>
                <c:pt idx="1">
                  <c:v>0.54</c:v>
                </c:pt>
                <c:pt idx="2">
                  <c:v>0.5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V3 PPL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</c:v>
                  </c:pt>
                  <c:pt idx="1">
                    <c:v>Llama-1B</c:v>
                  </c:pt>
                  <c:pt idx="2">
                    <c:v>Llama-3B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0.455</c:v>
                </c:pt>
                <c:pt idx="1">
                  <c:v>0.516</c:v>
                </c:pt>
                <c:pt idx="2">
                  <c:v>0.497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.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Legal Domain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V1 SE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</c:v>
                  </c:pt>
                  <c:pt idx="1">
                    <c:v>Llama-1B</c:v>
                  </c:pt>
                  <c:pt idx="2">
                    <c:v>Llama-3B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0.508</c:v>
                </c:pt>
                <c:pt idx="1">
                  <c:v>0.51</c:v>
                </c:pt>
                <c:pt idx="2">
                  <c:v>0.511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 KLE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</c:v>
                  </c:pt>
                  <c:pt idx="1">
                    <c:v>Llama-1B</c:v>
                  </c:pt>
                  <c:pt idx="2">
                    <c:v>Llama-3B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0.491</c:v>
                </c:pt>
                <c:pt idx="1">
                  <c:v>0.503</c:v>
                </c:pt>
                <c:pt idx="2">
                  <c:v>0.541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V3 PPL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</c:v>
                  </c:pt>
                  <c:pt idx="1">
                    <c:v>Llama-1B</c:v>
                  </c:pt>
                  <c:pt idx="2">
                    <c:v>Llama-3B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0.792</c:v>
                </c:pt>
                <c:pt idx="1">
                  <c:v>0.798</c:v>
                </c:pt>
                <c:pt idx="2">
                  <c:v>0.783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V1 NLI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</c:v>
                  </c:pt>
                  <c:pt idx="1">
                    <c:v>Llama-1B</c:v>
                  </c:pt>
                  <c:pt idx="2">
                    <c:v>Llama-3B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0.597</c:v>
                </c:pt>
                <c:pt idx="1">
                  <c:v>0.55</c:v>
                </c:pt>
                <c:pt idx="2">
                  <c:v>0.602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 BERTScore (flipped)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</c:v>
                  </c:pt>
                  <c:pt idx="1">
                    <c:v>Llama-1B</c:v>
                  </c:pt>
                  <c:pt idx="2">
                    <c:v>Llama-3B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0.743</c:v>
                </c:pt>
                <c:pt idx="1">
                  <c:v>0.849</c:v>
                </c:pt>
                <c:pt idx="2">
                  <c:v>0.811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V3 N-gram (broken)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</c:v>
                  </c:pt>
                  <c:pt idx="1">
                    <c:v>Llama-1B</c:v>
                  </c:pt>
                  <c:pt idx="2">
                    <c:v>Llama-3B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AUROC at % completion</c:v>
                </c:pt>
              </c:strCache>
            </c:strRef>
          </c:tx>
          <c:spPr>
            <a:solidFill>
              <a:srgbClr val="10B981"/>
            </a:solidFill>
            <a:ln w="3175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10%</c:v>
                  </c:pt>
                  <c:pt idx="1">
                    <c:v>20%</c:v>
                  </c:pt>
                  <c:pt idx="2">
                    <c:v>30%</c:v>
                  </c:pt>
                  <c:pt idx="3">
                    <c:v>40%</c:v>
                  </c:pt>
                  <c:pt idx="4">
                    <c:v>50%</c:v>
                  </c:pt>
                  <c:pt idx="5">
                    <c:v>60%</c:v>
                  </c:pt>
                  <c:pt idx="6">
                    <c:v>70%</c:v>
                  </c:pt>
                  <c:pt idx="7">
                    <c:v>80%</c:v>
                  </c:pt>
                  <c:pt idx="8">
                    <c:v>90%</c:v>
                  </c:pt>
                  <c:pt idx="9">
                    <c:v>100%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0.512</c:v>
                </c:pt>
                <c:pt idx="1">
                  <c:v>0.534</c:v>
                </c:pt>
                <c:pt idx="2">
                  <c:v>0.551</c:v>
                </c:pt>
                <c:pt idx="3">
                  <c:v>0.571</c:v>
                </c:pt>
                <c:pt idx="4">
                  <c:v>0.591</c:v>
                </c:pt>
                <c:pt idx="5">
                  <c:v>0.584</c:v>
                </c:pt>
                <c:pt idx="6">
                  <c:v>0.588</c:v>
                </c:pt>
                <c:pt idx="7">
                  <c:v>0.586</c:v>
                </c:pt>
                <c:pt idx="8">
                  <c:v>0.587</c:v>
                </c:pt>
                <c:pt idx="9">
                  <c:v>0.587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2"/>
          <c:min val="0.4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Task 3 V1 NLI Cross-Domain AUROC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Medical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</c:v>
                  </c:pt>
                  <c:pt idx="1">
                    <c:v>Llama-1B</c:v>
                  </c:pt>
                  <c:pt idx="2">
                    <c:v>Llama-3B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0.51</c:v>
                </c:pt>
                <c:pt idx="1">
                  <c:v>0.482</c:v>
                </c:pt>
                <c:pt idx="2">
                  <c:v>0.523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Legal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</c:v>
                  </c:pt>
                  <c:pt idx="1">
                    <c:v>Llama-1B</c:v>
                  </c:pt>
                  <c:pt idx="2">
                    <c:v>Llama-3B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0.488</c:v>
                </c:pt>
                <c:pt idx="1">
                  <c:v>0.461</c:v>
                </c:pt>
                <c:pt idx="2">
                  <c:v>0.499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.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Layer-wise Attention Entropy</a:t>
            </a:r>
            <a:endParaRPr lang="en-US" sz="3300" dirty="0"/>
          </a:p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Real-Time Hallucination Detection in Small LLMs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Task 1 Defense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127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Group 8  ·  EPITA Action Learning Spring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4381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Divyavaahini Thyagarajan  ·  Venkatesh Lankalapalli  ·  Sai Sreenivas Putta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73075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Advisors: Prof. Rosemary Obi  ·  Bill Manos  ·  Alaa Bakhti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0" y="482803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475569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48463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All · Slide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Research Gap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132320" y="482803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1A2B5C"/>
          </a:solidFill>
          <a:ln/>
        </p:spPr>
      </p:sp>
      <p:sp>
        <p:nvSpPr>
          <p:cNvPr id="5" name="Text 3"/>
          <p:cNvSpPr/>
          <p:nvPr/>
        </p:nvSpPr>
        <p:spPr>
          <a:xfrm>
            <a:off x="7150608" y="48463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All · Slide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predict from patterns — not verified facts. When uncertain, they still generate confidently wrong answers. Most dangerous in medical and legal settings.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4114800" cy="1353312"/>
          </a:xfrm>
          <a:prstGeom prst="roundRect">
            <a:avLst>
              <a:gd name="adj" fmla="val 4730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" y="1353312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(Pandit et al., 2025)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691640"/>
            <a:ext cx="37856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F1=0.625 on hard cases. Wrong diagnoses can harm patients.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788920"/>
            <a:ext cx="4114800" cy="1353312"/>
          </a:xfrm>
          <a:prstGeom prst="roundRect">
            <a:avLst>
              <a:gd name="adj" fmla="val 4730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" y="288036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(Hou et al., 2024)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3218688"/>
            <a:ext cx="37856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of LLM-generated legal analyses contain hallucinations. 14-category taxonomy.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261872"/>
            <a:ext cx="4114800" cy="1353312"/>
          </a:xfrm>
          <a:prstGeom prst="roundRect">
            <a:avLst>
              <a:gd name="adj" fmla="val 4730"/>
            </a:avLst>
          </a:prstGeom>
          <a:solidFill>
            <a:srgbClr val="FFFBE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1353312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Sub-3B Models — Uncharted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28032" y="1691640"/>
            <a:ext cx="37856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 study used 7B+ models only. Sub-3B are the most deployed — zero coverage in literature.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788920"/>
            <a:ext cx="4114800" cy="1353312"/>
          </a:xfrm>
          <a:prstGeom prst="roundRect">
            <a:avLst>
              <a:gd name="adj" fmla="val 4730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28032" y="288036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Gap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28032" y="3218688"/>
            <a:ext cx="37856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study: 3 detection families × 3 models × 3 domains at 1B–3B scale.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Experimental Design — Controls &amp; Dataset Change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132320" y="482803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1A2B5C"/>
          </a:solidFill>
          <a:ln/>
        </p:spPr>
      </p:sp>
      <p:sp>
        <p:nvSpPr>
          <p:cNvPr id="5" name="Text 3"/>
          <p:cNvSpPr/>
          <p:nvPr/>
        </p:nvSpPr>
        <p:spPr>
          <a:xfrm>
            <a:off x="7150608" y="48463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All · Slide 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1143000"/>
          </a:xfrm>
          <a:prstGeom prst="roundRect">
            <a:avLst>
              <a:gd name="adj" fmla="val 5600"/>
            </a:avLst>
          </a:prstGeom>
          <a:solidFill>
            <a:srgbClr val="FFF9C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Dataset Change: HalluLens (specified in doc) → HaluEval (used in experiments)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reasons: (1) HalluLens full dataset requires institutional access — not available as open HuggingFace split.  (2) HaluEval provides pre-paired faithful + hallucinated answer pairs — essential for binary classification.  (3) HaluEval is the standard benchmark used by our key references Lookback Lens (Chuang et al., 2024) and INSIDE (Chen et al., 2024) — making results directly comparable to prior work.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993392"/>
            <a:ext cx="1572768" cy="374904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10" name="Shape 8"/>
          <p:cNvSpPr/>
          <p:nvPr/>
        </p:nvSpPr>
        <p:spPr>
          <a:xfrm>
            <a:off x="1847088" y="1993392"/>
            <a:ext cx="7022592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011680"/>
            <a:ext cx="1481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920240" y="2011680"/>
            <a:ext cx="68762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Qwen2.5-1.5B-Instruct · Llama-3.2-1B-Instruct · Llama-3.2-3B-Instruct (all bfloat16 + eager attention)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423160"/>
            <a:ext cx="1572768" cy="37490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4" name="Shape 12"/>
          <p:cNvSpPr/>
          <p:nvPr/>
        </p:nvSpPr>
        <p:spPr>
          <a:xfrm>
            <a:off x="1847088" y="2423160"/>
            <a:ext cx="7022592" cy="374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441448"/>
            <a:ext cx="1481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920240" y="2441448"/>
            <a:ext cx="68762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HaluEval QA (pminervini/HaluEval) — 500 samples, seed=42. 248 faithful (label=0), 252 hallucinated (label=1)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852928"/>
            <a:ext cx="1572768" cy="374904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18" name="Shape 16"/>
          <p:cNvSpPr/>
          <p:nvPr/>
        </p:nvSpPr>
        <p:spPr>
          <a:xfrm>
            <a:off x="1847088" y="2852928"/>
            <a:ext cx="7022592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871216"/>
            <a:ext cx="1481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20240" y="2871216"/>
            <a:ext cx="68762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 stratified: 350 train / 75 val / 75 test — SAME split across ALL 3 tasks for fair comparison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282696"/>
            <a:ext cx="1572768" cy="37490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2" name="Shape 20"/>
          <p:cNvSpPr/>
          <p:nvPr/>
        </p:nvSpPr>
        <p:spPr>
          <a:xfrm>
            <a:off x="1847088" y="3282696"/>
            <a:ext cx="7022592" cy="374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3300984"/>
            <a:ext cx="1481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920240" y="3300984"/>
            <a:ext cx="68762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MedHallu (UTAustin-AIHealth/MedHallu) — 200 samples (100 faithful + 100 hallucinated), seed=42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712464"/>
            <a:ext cx="1572768" cy="374904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26" name="Shape 24"/>
          <p:cNvSpPr/>
          <p:nvPr/>
        </p:nvSpPr>
        <p:spPr>
          <a:xfrm>
            <a:off x="1847088" y="3712464"/>
            <a:ext cx="7022592" cy="3749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730752"/>
            <a:ext cx="1481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T1/T3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20240" y="3730752"/>
            <a:ext cx="68762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dataset — 60 QA pairs (30 faithful + 30 hallucinated). Note: T2 used 150 legal samples (seed=123)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4142232"/>
            <a:ext cx="1572768" cy="37490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0" name="Shape 28"/>
          <p:cNvSpPr/>
          <p:nvPr/>
        </p:nvSpPr>
        <p:spPr>
          <a:xfrm>
            <a:off x="1847088" y="4142232"/>
            <a:ext cx="7022592" cy="374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4160520"/>
            <a:ext cx="1481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920240" y="4160520"/>
            <a:ext cx="68762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500 samples · Same random seed=42 · Same 70/15/15 split · Zero-shot cross-domain for all tasks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 — Same 5 Metrics Used by All 3 Tasks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132320" y="482803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1A2B5C"/>
          </a:solidFill>
          <a:ln/>
        </p:spPr>
      </p:sp>
      <p:sp>
        <p:nvSpPr>
          <p:cNvPr id="5" name="Text 3"/>
          <p:cNvSpPr/>
          <p:nvPr/>
        </p:nvSpPr>
        <p:spPr>
          <a:xfrm>
            <a:off x="7150608" y="48463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All · Slide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here once. Each task references this slide. Graders: same protocol ensures fair comparison across all 3 tasks.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987552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078992"/>
            <a:ext cx="987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AUROC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61872" y="1078992"/>
            <a:ext cx="7607808" cy="62179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1155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Under ROC Curve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138988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hallucinated above faithful, threshold-independent. 0.5=random, 1.0=perfect. Primary metric.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784848" y="1216152"/>
            <a:ext cx="914400" cy="329184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784848" y="12161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0.85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790688" y="1216152"/>
            <a:ext cx="987552" cy="329184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7790688" y="1216152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 slides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74320" y="1828800"/>
            <a:ext cx="987552" cy="6217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1828800"/>
            <a:ext cx="987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AUPRC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61872" y="1828800"/>
            <a:ext cx="7607808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186537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Under Precision-Recall Curve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213969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AUROC for imbalanced data. Shows precision at each recall level — important for deployment.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84848" y="1965960"/>
            <a:ext cx="914400" cy="329184"/>
          </a:xfrm>
          <a:prstGeom prst="roundRect">
            <a:avLst>
              <a:gd name="adj" fmla="val 13889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784848" y="19659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0.75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790688" y="1965960"/>
            <a:ext cx="987552" cy="329184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7790688" y="196596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 slides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2578608"/>
            <a:ext cx="987552" cy="6217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2578608"/>
            <a:ext cx="987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261872" y="2578608"/>
            <a:ext cx="7607808" cy="62179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26151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Harmonic Mean Precision &amp; Recall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71600" y="288950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threshold=0.5. Captures both false positives (wrong flag) and false negatives (missed hallucination).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784848" y="2715768"/>
            <a:ext cx="914400" cy="329184"/>
          </a:xfrm>
          <a:prstGeom prst="roundRect">
            <a:avLst>
              <a:gd name="adj" fmla="val 13889"/>
            </a:avLst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784848" y="27157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0.70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790688" y="2715768"/>
            <a:ext cx="987552" cy="329184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7790688" y="2715768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 slides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" y="3328416"/>
            <a:ext cx="987552" cy="6217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3328416"/>
            <a:ext cx="987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261872" y="3328416"/>
            <a:ext cx="7607808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371600" y="33649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Calibration Error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371600" y="363931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probe's confidence trustworthy? ECE=0.20 means 90% confidence is only 70% accurate. Critical for medical/legal safety.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784848" y="3465576"/>
            <a:ext cx="914400" cy="329184"/>
          </a:xfrm>
          <a:prstGeom prst="roundRect">
            <a:avLst>
              <a:gd name="adj" fmla="val 13889"/>
            </a:avLst>
          </a:prstGeom>
          <a:solidFill>
            <a:srgbClr val="D97706"/>
          </a:solidFill>
          <a:ln/>
        </p:spPr>
      </p:sp>
      <p:sp>
        <p:nvSpPr>
          <p:cNvPr id="40" name="Text 38"/>
          <p:cNvSpPr/>
          <p:nvPr/>
        </p:nvSpPr>
        <p:spPr>
          <a:xfrm>
            <a:off x="6784848" y="346557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0.15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790688" y="3465576"/>
            <a:ext cx="987552" cy="329184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7790688" y="3465576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 slides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74320" y="4078224"/>
            <a:ext cx="987552" cy="621792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078224"/>
            <a:ext cx="987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261872" y="4078224"/>
            <a:ext cx="7607808" cy="62179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1371600" y="4114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 Time (ms per query)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371600" y="438912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Q+A input to hallucination score. ≤100ms = real-time deployable. One forward pass avoids K×cost of sampling methods.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784848" y="4215384"/>
            <a:ext cx="914400" cy="329184"/>
          </a:xfrm>
          <a:prstGeom prst="roundRect">
            <a:avLst>
              <a:gd name="adj" fmla="val 13889"/>
            </a:avLst>
          </a:prstGeom>
          <a:solidFill>
            <a:srgbClr val="1A2B5C"/>
          </a:solidFill>
          <a:ln/>
        </p:spPr>
      </p:sp>
      <p:sp>
        <p:nvSpPr>
          <p:cNvPr id="49" name="Text 47"/>
          <p:cNvSpPr/>
          <p:nvPr/>
        </p:nvSpPr>
        <p:spPr>
          <a:xfrm>
            <a:off x="6784848" y="421538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100ms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7790688" y="4215384"/>
            <a:ext cx="987552" cy="329184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/>
        </p:spPr>
      </p:sp>
      <p:sp>
        <p:nvSpPr>
          <p:cNvPr id="51" name="Text 49"/>
          <p:cNvSpPr/>
          <p:nvPr/>
        </p:nvSpPr>
        <p:spPr>
          <a:xfrm>
            <a:off x="7790688" y="421538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 slides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Layer-wise Attention Entropy  ·  Divyavaahini Thyagarajan  ·  Slides 5–9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— Research Question, Setup &amp; Variations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132320" y="482803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150608" y="48463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Divya · Slide 6 of 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2296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RQ: Does layer-wise Shannon attention entropy detect hallucinations in 1B–3B LLMs, and which transformer layer carries the most discriminative signal?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2011680" cy="3154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42416" y="17373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04241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267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2615184"/>
            <a:ext cx="179222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-∑ A log A per head per layer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probe per layer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layer by validation AUROC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forward pass — bfloat16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1645920"/>
            <a:ext cx="2011680" cy="3154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36976" y="17373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23697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60320" y="2267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Models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78608" y="2615184"/>
            <a:ext cx="179222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HaluEval QA (500 samples, seed=42)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Qwen2.5-1.5B · Llama-1B · Llama-3B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bfloat16 + eager attention (not fp16)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70/15/15 split as all tasks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645920"/>
            <a:ext cx="2011680" cy="3154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31536" y="17373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43153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🔬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2267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Variations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73168" y="2615184"/>
            <a:ext cx="179222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Single-layer probe sweep (all layers)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Head aggregation (mean/max/top-K)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V3: All-layer concat + cross-arch transfer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simple to complex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0" y="1645920"/>
            <a:ext cx="2011680" cy="3154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26096" y="17373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62609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🌍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9440" y="2267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Cross-Domain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67728" y="2615184"/>
            <a:ext cx="179222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Medical: MedHallu 200 samples (seed=42)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Legal: proxy 60 QA pairs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Zero-shot: no domain retraining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correction where signal inverts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— V1 Layer Sweep Results + Cross-Domain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132320" y="482803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150608" y="48463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Divya · Slide 7 of 5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749808"/>
          <a:ext cx="54864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977640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/>
        </p:spPr>
      </p:sp>
      <p:sp>
        <p:nvSpPr>
          <p:cNvPr id="8" name="Text 5"/>
          <p:cNvSpPr/>
          <p:nvPr/>
        </p:nvSpPr>
        <p:spPr>
          <a:xfrm>
            <a:off x="384048" y="4032504"/>
            <a:ext cx="5266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All 3 models peak at 54–75% depth — confirms DoLa layer localisation. Medical (0.895–0.903) and Legal (0.890–0.898) are HIGHER than General QA — novel finding. Cross-arch transfer: Qwen→1B=0.839, Qwen→3B=0.827.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749808"/>
          <a:ext cx="2834640" cy="960120"/>
        </p:xfrm>
        <a:graphic>
          <a:graphicData uri="http://schemas.openxmlformats.org/drawingml/2006/table">
            <a:tbl>
              <a:tblPr/>
              <a:tblGrid>
                <a:gridCol w="404949"/>
                <a:gridCol w="404949"/>
                <a:gridCol w="404949"/>
                <a:gridCol w="404949"/>
                <a:gridCol w="404949"/>
                <a:gridCol w="404949"/>
                <a:gridCol w="404949"/>
              </a:tblGrid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AUPRC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 1.5B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(54%)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Llama-1B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(75%)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(68%)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783080"/>
          <a:ext cx="2834640" cy="822960"/>
        </p:xfrm>
        <a:graphic>
          <a:graphicData uri="http://schemas.openxmlformats.org/drawingml/2006/table">
            <a:tbl>
              <a:tblPr/>
              <a:tblGrid>
                <a:gridCol w="708660"/>
                <a:gridCol w="708660"/>
                <a:gridCol w="708660"/>
                <a:gridCol w="708660"/>
              </a:tblGrid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 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 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Llama-1B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0.902 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0.898 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 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 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989320" y="2697480"/>
            <a:ext cx="2834640" cy="475488"/>
          </a:xfrm>
          <a:prstGeom prst="roundRect">
            <a:avLst>
              <a:gd name="adj" fmla="val 11538"/>
            </a:avLst>
          </a:prstGeom>
          <a:solidFill>
            <a:srgbClr val="EFF6FF"/>
          </a:solidFill>
          <a:ln/>
        </p:spPr>
      </p:sp>
      <p:sp>
        <p:nvSpPr>
          <p:cNvPr id="12" name="Text 7"/>
          <p:cNvSpPr/>
          <p:nvPr/>
        </p:nvSpPr>
        <p:spPr>
          <a:xfrm>
            <a:off x="6099048" y="2752344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head aggregation (0.38–0.58) &lt;&lt; best layer (0.882). Which LAYER beats which HEADS.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All-layer LR: 0.856 test | MLP: 0.646 (overfits).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989320" y="3246120"/>
            <a:ext cx="2834640" cy="987552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/>
        </p:spPr>
      </p:sp>
      <p:sp>
        <p:nvSpPr>
          <p:cNvPr id="14" name="Text 9"/>
          <p:cNvSpPr/>
          <p:nvPr/>
        </p:nvSpPr>
        <p:spPr>
          <a:xfrm>
            <a:off x="6099048" y="3300984"/>
            <a:ext cx="26151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Cross-arch transfer: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Qwen→Llama-1B: 0.839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Qwen→Llama-3B: 0.827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1B→3B: 0.797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generalises across architectures without retraining.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— V2 &amp; V3 Results + Trade-off Analysis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132320" y="482803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150608" y="48463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Divya · Slide 8 of 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V2: Head Aggregation on Best Layer 15 (Qwen)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024128"/>
          <a:ext cx="4206240" cy="22128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310128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FFFBEB"/>
          </a:solidFill>
          <a:ln/>
        </p:spPr>
      </p:sp>
      <p:sp>
        <p:nvSpPr>
          <p:cNvPr id="9" name="Text 6"/>
          <p:cNvSpPr/>
          <p:nvPr/>
        </p:nvSpPr>
        <p:spPr>
          <a:xfrm>
            <a:off x="384048" y="3364992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result: 0.38–0.58 is far weaker than single best layer (0.882). Which LAYER matters more than which HEADS. The entropy signal is layer-localised not head-localised.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663440" y="7498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V3: All-Layer Concat vs Best Single Layer</a:t>
            </a:r>
            <a:endParaRPr lang="en-US" sz="11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4663440" y="1024128"/>
          <a:ext cx="4114800" cy="22128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4663440" y="3310128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EFF6FF"/>
          </a:solidFill>
          <a:ln/>
        </p:spPr>
      </p:sp>
      <p:sp>
        <p:nvSpPr>
          <p:cNvPr id="13" name="Text 9"/>
          <p:cNvSpPr/>
          <p:nvPr/>
        </p:nvSpPr>
        <p:spPr>
          <a:xfrm>
            <a:off x="4773168" y="3364992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result: Best layer (0.840) nearly matches all-layer LR (0.856). MLP overfits (0.646). Complexity does not help. Signal concentrated at layer 15.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74320" y="3950208"/>
            <a:ext cx="85496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11480" y="4023360"/>
            <a:ext cx="8275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 Summary — Which Variation to Deploy?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297680"/>
          <a:ext cx="8275320" cy="566928"/>
        </p:xfrm>
        <a:graphic>
          <a:graphicData uri="http://schemas.openxmlformats.org/drawingml/2006/table">
            <a:tbl>
              <a:tblPr/>
              <a:tblGrid>
                <a:gridCol w="1655064"/>
                <a:gridCol w="1655064"/>
                <a:gridCol w="1655064"/>
                <a:gridCol w="1655064"/>
                <a:gridCol w="1655064"/>
              </a:tblGrid>
              <a:tr h="1133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AUROC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</a:tr>
              <a:tr h="1133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Best Layer LR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35–50ms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Best — deploy this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3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Top-K Heads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35–50ms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Weaker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133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 All-Layer LR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35–50ms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+0.016 gain, more features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3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 All-Layer MLP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35–50ms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Overfits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— Challenges, Solutions, Best Approach &amp; MVP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132320" y="482803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150608" y="48463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Divya · Slide 9 of 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160520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229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Challenges &amp; Solutions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280160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0700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fp16 → NaN in all 28 layers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444752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bfloat16 + eager attention. fp16 overflows in attention softmax.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4048" y="1773936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00784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Colab session resets (5+ times)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1938528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Saved .npy arrays to Google Drive after every extraction. Zero data loss.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2267712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9456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dataset (Hou et al.) inaccessible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432304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Used 60-pair proxy set. Documented as limitation — not hidden.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4048" y="2761488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88336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AUROC 0.30 (below random)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2926080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Flip correction after confirming NLL inversion is systematic across all samples.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749808"/>
            <a:ext cx="4206240" cy="2395728"/>
          </a:xfrm>
          <a:prstGeom prst="roundRect">
            <a:avLst>
              <a:gd name="adj" fmla="val 2672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822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Best Approach &amp; Final Metrics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11704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 Single-layer LR on best layer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1463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70448" y="1463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0.882–0.890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17373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70448" y="1737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0.749–0.785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2011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70448" y="2011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0.687–0.771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22860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70448" y="22860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0.196–0.216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2560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70448" y="2560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35–50ms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218688"/>
            <a:ext cx="4160520" cy="1828800"/>
          </a:xfrm>
          <a:prstGeom prst="roundRect">
            <a:avLst>
              <a:gd name="adj" fmla="val 350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11480" y="329184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🔧 Improvements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3584448"/>
            <a:ext cx="38862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QA training for medical calibration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scaling post-processing to improve ECE below 0.15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top-3 layers instead of single best layer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instruction-tuned medical LLMs (MedAlpaca)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218688"/>
            <a:ext cx="4206240" cy="1828800"/>
          </a:xfrm>
          <a:prstGeom prst="roundRect">
            <a:avLst>
              <a:gd name="adj" fmla="val 3500"/>
            </a:avLst>
          </a:prstGeom>
          <a:solidFill>
            <a:srgbClr val="FFFBE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00600" y="32918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🚀 MVP Connection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3584448"/>
            <a:ext cx="393192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35–50ms = real-time deployable in production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forward pass = same compute as running the model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is 1KB — embeds in any inference pipeline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0.903 + Legal 0.890 — target domains covered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is the detection backbone for the MVP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Output-Side Uncertainty Methods  ·  Sai Sreenivas Putta  ·  Slides 10–14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— Research Question, Setup &amp; Variations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132320" y="482803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150608" y="48463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Sai · Slide 11 of 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2296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RQ: Do output-side uncertainty methods (SE, KLE, perplexity) detect hallucinations in 1B–3B LLMs? Which performs best, and does simpler beat complex?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2743200" cy="324612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45920"/>
            <a:ext cx="2743200" cy="457200"/>
          </a:xfrm>
          <a:prstGeom prst="rect">
            <a:avLst>
              <a:gd name="adj" fmla="val 140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V1: Semantic Entropy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157984"/>
            <a:ext cx="24688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responses per query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 entailment clusters by meaning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over meaning clusters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Farquhar et al. (Nature, 2024)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7B+ models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54680" y="1645920"/>
            <a:ext cx="2743200" cy="324612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645920"/>
            <a:ext cx="2743200" cy="457200"/>
          </a:xfrm>
          <a:prstGeom prst="rect">
            <a:avLst>
              <a:gd name="adj" fmla="val 14000"/>
            </a:avLst>
          </a:prstGeom>
          <a:solidFill>
            <a:srgbClr val="60A5FA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V2: Kernel Language Entropy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2157984"/>
            <a:ext cx="24688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responses per query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semantic similarity kernel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entropy of kernel matrix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Nikitin &amp; Marttinen (NeurIPS 2024)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Generalises SE theoretically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645920"/>
            <a:ext cx="2743200" cy="324612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645920"/>
            <a:ext cx="2743200" cy="457200"/>
          </a:xfrm>
          <a:prstGeom prst="rect">
            <a:avLst>
              <a:gd name="adj" fmla="val 14000"/>
            </a:avLst>
          </a:prstGeom>
          <a:solidFill>
            <a:srgbClr val="475569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V3: Perplexity / NLL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157984"/>
            <a:ext cx="24688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forward pass — fastest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features: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 NLL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 NLL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Tail-mean NLL (top 20% tokens)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Length-normalised NLL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classifier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919472"/>
            <a:ext cx="859536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4974336"/>
            <a:ext cx="8375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Same 5 as Slide 4 (AUROC · AUPRC · F1 · ECE · Latency). Also reporting K-curve (AUROC vs K=1,3,5,7) as deeper analysis for output-side methods.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— In-Domain Results &amp; K-Curve Analysis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132320" y="482803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150608" y="48463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Sai · Slide 12 of 5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749808"/>
          <a:ext cx="43891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337560"/>
            <a:ext cx="4389120" cy="475488"/>
          </a:xfrm>
          <a:prstGeom prst="roundRect">
            <a:avLst>
              <a:gd name="adj" fmla="val 11538"/>
            </a:avLst>
          </a:prstGeom>
          <a:solidFill>
            <a:srgbClr val="FEF2F2"/>
          </a:solidFill>
          <a:ln/>
        </p:spPr>
      </p:sp>
      <p:sp>
        <p:nvSpPr>
          <p:cNvPr id="8" name="Text 5"/>
          <p:cNvSpPr/>
          <p:nvPr/>
        </p:nvSpPr>
        <p:spPr>
          <a:xfrm>
            <a:off x="384048" y="3392424"/>
            <a:ext cx="4169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barely above random (0.52–0.59). SE designed for 7B+ — semantic clusters less distinct in small models. V3 PPL wins: simpler NLL signal more reliable on sub-3B.</a:t>
            </a:r>
            <a:endParaRPr lang="en-US" sz="9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846320" y="749808"/>
          <a:ext cx="402336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4846320" y="2907792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/>
        </p:spPr>
      </p:sp>
      <p:sp>
        <p:nvSpPr>
          <p:cNvPr id="11" name="Text 7"/>
          <p:cNvSpPr/>
          <p:nvPr/>
        </p:nvSpPr>
        <p:spPr>
          <a:xfrm>
            <a:off x="4956048" y="2962656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 → 0.50 (random). K≥5 needed for any signal. KLE consistently beats SE. Minimum viable K = 5.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846320" y="34381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Breakdown (Qwen, ms/query)</a:t>
            </a:r>
            <a:endParaRPr lang="en-US" sz="950" dirty="0"/>
          </a:p>
        </p:txBody>
      </p:sp>
      <p:graphicFrame>
        <p:nvGraphicFramePr>
          <p:cNvPr id="13" name="Chart 2" descr=""/>
          <p:cNvGraphicFramePr/>
          <p:nvPr/>
        </p:nvGraphicFramePr>
        <p:xfrm>
          <a:off x="4846320" y="3730752"/>
          <a:ext cx="4023360" cy="12070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886200"/>
          <a:ext cx="4389120" cy="804672"/>
        </p:xfrm>
        <a:graphic>
          <a:graphicData uri="http://schemas.openxmlformats.org/drawingml/2006/table">
            <a:tbl>
              <a:tblPr/>
              <a:tblGrid>
                <a:gridCol w="877824"/>
                <a:gridCol w="877824"/>
                <a:gridCol w="877824"/>
                <a:gridCol w="877824"/>
                <a:gridCol w="877824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KLE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 PPL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 PPL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Llama-1B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 PPL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 PPL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— Cross-Domain Results (All 3 Methods)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132320" y="482803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150608" y="48463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Sai · Slide 13 of 5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749808"/>
          <a:ext cx="4206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663440" y="749808"/>
          <a:ext cx="4206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108960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FEF2F2"/>
          </a:solidFill>
          <a:ln/>
        </p:spPr>
      </p:sp>
      <p:sp>
        <p:nvSpPr>
          <p:cNvPr id="9" name="Text 5"/>
          <p:cNvSpPr/>
          <p:nvPr/>
        </p:nvSpPr>
        <p:spPr>
          <a:xfrm>
            <a:off x="384048" y="3163824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Medical: All 3 methods near random (0.45–0.55). NLL and semantic patterns invert on specialist medical terminology. High perplexity in faithful answers.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663440" y="3108960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EFF6FF"/>
          </a:solidFill>
          <a:ln/>
        </p:spPr>
      </p:sp>
      <p:sp>
        <p:nvSpPr>
          <p:cNvPr id="11" name="Text 7"/>
          <p:cNvSpPr/>
          <p:nvPr/>
        </p:nvSpPr>
        <p:spPr>
          <a:xfrm>
            <a:off x="4773168" y="3163824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Legal: Only V3 PPL works (0.78–0.80). V1 SE + V2 KLE near random. Legal text structurally closer to general QA — NLL transfers but semantic clustering does not.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74320" y="3657600"/>
            <a:ext cx="8549640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11480" y="3730752"/>
            <a:ext cx="8275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+ Best Approach + MVP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11480" y="4041648"/>
            <a:ext cx="8275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Challenges: (1) SE latency 1200–1680ms — K=5 generation slow. Separated generation from scoring latency.  (2) Medical AUROC below 0.5 — flip applied uniformly, not cherry-picked.  (3) KLE 11ms latency is scoring-only; end-to-end KLE ≈ SE latency.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411480" y="4480560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approach: V3 Perplexity/NLL — AUROC 0.722–0.785, single forward pass, 36–51ms.  Improvements: Domain-specific NLL thresholds for medical. Try K=10 SE on small models.  MVP: V3 PPL detects hallucinations from any black-box LLM output — useful when model weights are unavailable.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— Trade-off Analysis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132320" y="482803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150608" y="48463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Sai · Slide 14 of 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should you deploy and when?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78992"/>
          <a:ext cx="8595360" cy="960120"/>
        </p:xfrm>
        <a:graphic>
          <a:graphicData uri="http://schemas.openxmlformats.org/drawingml/2006/table">
            <a:tbl>
              <a:tblPr/>
              <a:tblGrid>
                <a:gridCol w="1227909"/>
                <a:gridCol w="1227909"/>
                <a:gridCol w="1227909"/>
                <a:gridCol w="1227909"/>
                <a:gridCol w="1227909"/>
                <a:gridCol w="1227909"/>
                <a:gridCol w="1227909"/>
              </a:tblGrid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In-domain AUROC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0.52–0.59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~0.50 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~0.51 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1200–1680ms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on sub-3B — fails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KLE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0.53–0.63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~0.50 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~0.50 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~1200ms*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better than SE — still slow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 PPL ✅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0.72–0.78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~0.50 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0.78–0.80 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36–51ms 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this — fast + no internals needed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21031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BEB"/>
          </a:solidFill>
          <a:ln/>
        </p:spPr>
      </p:sp>
      <p:sp>
        <p:nvSpPr>
          <p:cNvPr id="9" name="Text 6"/>
          <p:cNvSpPr/>
          <p:nvPr/>
        </p:nvSpPr>
        <p:spPr>
          <a:xfrm>
            <a:off x="384048" y="2157984"/>
            <a:ext cx="83759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more complex the method, the worse it performs on small models. SE (theoretically superior) loses to a simple NLL feature. This is a genuine finding — first demonstrated on sub-3B models.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74320" y="26974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vs Task 1 — Why Internal Methods Win</a:t>
            </a:r>
            <a:endParaRPr lang="en-US" sz="11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017520"/>
          <a:ext cx="8595360" cy="74980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249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AUROC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internals?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</a:tr>
              <a:tr h="249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Attention Entropy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0.882–0.890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0.895–0.903 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0.890–0.898 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35–50ms 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(attention weights)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9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Best (V3 PPL)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0.722–0.785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~0.50 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0.78–0.80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36–51ms 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(output only) 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274320" y="384048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/>
        </p:spPr>
      </p:sp>
      <p:sp>
        <p:nvSpPr>
          <p:cNvPr id="13" name="Text 9"/>
          <p:cNvSpPr/>
          <p:nvPr/>
        </p:nvSpPr>
        <p:spPr>
          <a:xfrm>
            <a:off x="384048" y="3895344"/>
            <a:ext cx="83759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wins on AUROC and cross-domain. T2 wins on deployment simplicity — no model internals needed. If you have access to weights, use T1. If not, use T2 V3 PPL. Both are fast (35–51ms).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74320" y="4407408"/>
            <a:ext cx="85953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11480" y="44805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024128" y="4480560"/>
            <a:ext cx="781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compute_nll_features(sample_q, sample_a) → show 4 NLL values (mean, max, tail-mean, length-normalised) → show AUROC comparison chart V1 vs V2 vs V3 → show K-curve chart → pre-run all cells in Colab notebook.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Consistency-Based Detection + Early Warning  ·  Venkatesh Lankalapalli  ·  Slides 15–19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 — Research Question, Setup &amp; Variations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132320" y="482803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7150608" y="48463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Venkatesh · Slide 16 of 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FFFBE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2296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RQ: Can consistency-based detectors detect hallucinations in real-time on 1B–3B LLMs, and can early stopping at 50% token generation maintain accuracy with lower latency?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64208"/>
            <a:ext cx="2011680" cy="3154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64208"/>
            <a:ext cx="2011680" cy="420624"/>
          </a:xfrm>
          <a:prstGeom prst="rect">
            <a:avLst>
              <a:gd name="adj" fmla="val 15217"/>
            </a:avLst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664208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V1: SelfCheckGPT-NLI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139696"/>
            <a:ext cx="182880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responses per query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DeBERTa-v3 NLI cross-consistency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mean contradiction probability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et al. (ACL Findings 2024)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68880" y="1664208"/>
            <a:ext cx="2011680" cy="3154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664208"/>
            <a:ext cx="2011680" cy="420624"/>
          </a:xfrm>
          <a:prstGeom prst="rect">
            <a:avLst>
              <a:gd name="adj" fmla="val 15217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2542032" y="1664208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V2: BERTScore (flip-corrected)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60320" y="2139696"/>
            <a:ext cx="182880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responses per query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BERTScore semantic similarity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Scores INVERTED on small models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correction applied uniformly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1664208"/>
            <a:ext cx="2011680" cy="3154680"/>
          </a:xfrm>
          <a:prstGeom prst="roundRect">
            <a:avLst>
              <a:gd name="adj" fmla="val 318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664208"/>
            <a:ext cx="2011680" cy="420624"/>
          </a:xfrm>
          <a:prstGeom prst="rect">
            <a:avLst>
              <a:gd name="adj" fmla="val 15217"/>
            </a:avLst>
          </a:prstGeom>
          <a:solidFill>
            <a:srgbClr val="CBD5E1"/>
          </a:solidFill>
          <a:ln/>
        </p:spPr>
      </p:sp>
      <p:sp>
        <p:nvSpPr>
          <p:cNvPr id="18" name="Text 16"/>
          <p:cNvSpPr/>
          <p:nvPr/>
        </p:nvSpPr>
        <p:spPr>
          <a:xfrm>
            <a:off x="4736592" y="1664208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V3: N-gram (FAILED)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2139696"/>
            <a:ext cx="182880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AUROC=0.500, F1=0.0 on all models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Root: HaluEval answers avg 15–20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— too short for n-gram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overlap. Documented honestly.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58000" y="1664208"/>
            <a:ext cx="2011680" cy="3154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1664208"/>
            <a:ext cx="2011680" cy="420624"/>
          </a:xfrm>
          <a:prstGeom prst="rect">
            <a:avLst>
              <a:gd name="adj" fmla="val 15217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931152" y="1664208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V4: Early Detection (50%)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49440" y="2139696"/>
            <a:ext cx="182880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at 64/128 tokens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NLI at 50% completion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42.5% speed saving found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Llama-3B done (time)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4919472"/>
            <a:ext cx="859536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4974336"/>
            <a:ext cx="8375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Same 5 as Slide 4. Additional: AUROC vs % tokens curve (V4 deeper analysis) and K-ablation K={2,3,5,10} (V5).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 — Results, AUROC vs % Tokens &amp; K-Ablation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132320" y="482803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7150608" y="48463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Venkatesh · Slide 17 of 5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749808"/>
          <a:ext cx="4114800" cy="22677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090672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EF2F2"/>
          </a:solidFill>
          <a:ln/>
        </p:spPr>
      </p:sp>
      <p:sp>
        <p:nvSpPr>
          <p:cNvPr id="8" name="Text 5"/>
          <p:cNvSpPr/>
          <p:nvPr/>
        </p:nvSpPr>
        <p:spPr>
          <a:xfrm>
            <a:off x="384048" y="3145536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raw = 0.15–0.26 (inverted). After flip: 0.74–0.85. V3 broken: constant output — short answers lack n-gram overlap.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0" y="7498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V4: AUROC vs % Tokens Generated (Llama-3B)</a:t>
            </a:r>
            <a:endParaRPr lang="en-US" sz="10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572000" y="1024128"/>
          <a:ext cx="429768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4572000" y="2999232"/>
            <a:ext cx="4297680" cy="566928"/>
          </a:xfrm>
          <a:prstGeom prst="roundRect">
            <a:avLst>
              <a:gd name="adj" fmla="val 9677"/>
            </a:avLst>
          </a:prstGeom>
          <a:solidFill>
            <a:srgbClr val="F0FDF4"/>
          </a:solidFill>
          <a:ln/>
        </p:spPr>
      </p:sp>
      <p:sp>
        <p:nvSpPr>
          <p:cNvPr id="12" name="Text 8"/>
          <p:cNvSpPr/>
          <p:nvPr/>
        </p:nvSpPr>
        <p:spPr>
          <a:xfrm>
            <a:off x="4681728" y="3054096"/>
            <a:ext cx="4078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peaks at 50% (0.591) then plateaus. Detection possible before generation finishes. 50% → 42.5% latency saving (16,145ms → 9,283ms). The optimal early stopping point.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639312"/>
          <a:ext cx="4114800" cy="896112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  <a:gridCol w="1028700"/>
              </a:tblGrid>
              <a:tr h="179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6,842ms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few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9,876ms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16,824ms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← Optimal trade-off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33,202ms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+0.012 AUROC, 2× slower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661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V5 K-Ablation (Llama-3B)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 — Cross-Domain, Failure Analysis, Challenges &amp; MVP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132320" y="482803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7150608" y="48463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Venkatesh · Slide 18 of 5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749808"/>
          <a:ext cx="42062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971800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FEF2F2"/>
          </a:solidFill>
          <a:ln/>
        </p:spPr>
      </p:sp>
      <p:sp>
        <p:nvSpPr>
          <p:cNvPr id="8" name="Text 5"/>
          <p:cNvSpPr/>
          <p:nvPr/>
        </p:nvSpPr>
        <p:spPr>
          <a:xfrm>
            <a:off x="384048" y="3026664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methods near random on both domains (0.46–0.52). DeBERTa-v3 NLI model trained on general NLI — does not generalise to medical/legal QA without domain fine-tuning.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63440" y="749808"/>
            <a:ext cx="420624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00600" y="822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Failure Case Analysis — Confidently Wrong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73168" y="1261872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120700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 hallucination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0" y="142646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responses all say the same wrong thing. NLI sees high consistency → classified as faithful. The most dangerous failure mode.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773168" y="1883664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0" y="18288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N-gram failure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29200" y="204825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token answers have near-zero n-gram overlap even between identical answers. Scorer returns constant output.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73168" y="2505456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0" y="245059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BERTScore inversion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029200" y="267004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models produce semantically similar responses whether right or wrong — BERTScore high for both classes.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74320" y="3520440"/>
            <a:ext cx="4206240" cy="1572768"/>
          </a:xfrm>
          <a:prstGeom prst="roundRect">
            <a:avLst>
              <a:gd name="adj" fmla="val 407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11480" y="35935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Challenges &amp; ✅ Best Approach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11480" y="3904488"/>
            <a:ext cx="39319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N-gram AUROC=0.500, F1=0.0 → answers too short. Documented honestly.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BERTScore inverted → flip correction applied uniformly — not cherry-picked.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V2 BERTScore flipped (0.74–0.85 AUROC). But latency 3,710–12,960ms → not real-time.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Improvement: MiniLM NLI model for speed. Run V4+V5 on all 3 models.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663440" y="3520440"/>
            <a:ext cx="4206240" cy="1572768"/>
          </a:xfrm>
          <a:prstGeom prst="roundRect">
            <a:avLst>
              <a:gd name="adj" fmla="val 4070"/>
            </a:avLst>
          </a:prstGeom>
          <a:solidFill>
            <a:srgbClr val="FFFBE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800600" y="35935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🚀 MVP Connection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800600" y="3904488"/>
            <a:ext cx="39319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early detection (50% tokens → 42.5% speed saving) is Task 3's strongest production finding.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generation at 50% tokens, score NLI consistency → latency drops from 16,145ms to 9,283ms.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a faster NLI model (MiniLM), target &lt;2,000ms — viable for batch processing.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Run NLI consistency on 1 test sample with K=5 responses. Show V4 AUROC vs % tokens curve. Show K-ablation table.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482803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150608" y="48463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Venkatesh · Slide 19 of 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Comparison &amp; Conclusion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49808"/>
          <a:ext cx="5029200" cy="16002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  <a:gridCol w="1005840"/>
              </a:tblGrid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Entropy (Qwen)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 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 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50ms 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Entropy (1B)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0.902 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0.898 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35ms 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Entropy (3B)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 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 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50ms 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PPL (best)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0.722–0.785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~0.50 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0.78–0.80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36–51ms 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NLI (best)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0.550–0.602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~0.50 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~0.49 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8,955–19,034ms 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423160"/>
            <a:ext cx="1280160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242316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554480" y="2423160"/>
            <a:ext cx="7315200" cy="6217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1664208" y="2478024"/>
            <a:ext cx="7095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wins: AUROC 0.882–0.890 · Medical 0.895–0.903 · Legal 0.890–0.898 · 35–50ms real-time · Confirms DoLa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" y="3172968"/>
            <a:ext cx="1280160" cy="6217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" y="3172968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554480" y="3172968"/>
            <a:ext cx="7315200" cy="62179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4" name="Text 11"/>
          <p:cNvSpPr/>
          <p:nvPr/>
        </p:nvSpPr>
        <p:spPr>
          <a:xfrm>
            <a:off x="1664208" y="3227832"/>
            <a:ext cx="7095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layer-wise entropy on sub-3B · SE fails on small models · Medical/legal do not degrade T1 · Early warning 42.5% saving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4320" y="3922776"/>
            <a:ext cx="1280160" cy="6217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" y="392277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 Prep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554480" y="3922776"/>
            <a:ext cx="7315200" cy="6217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1664208" y="3977640"/>
            <a:ext cx="7095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bfloat16 (fp16 overflows) · Medical &gt; general (entropy pattern) · SE fails (cluster quality) · V3 PPL 4 features: mean/max/tail-mean/length-norm NLL · HaluEval (HalluLens needs access)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Group 8  ·  EPITA Action Learning Spring 2026  ·  Thank you  ·  Questions?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2026-06-10T17:24:05Z</dcterms:created>
  <dcterms:modified xsi:type="dcterms:W3CDTF">2026-06-10T17:24:05Z</dcterms:modified>
</cp:coreProperties>
</file>