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245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 |  V1 Semantic Entropy · V2 Kernel Language Entropy · V3 Perplexity/NLL  |  HalluEval QA, 500 samples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30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V1 - Semantic Entropy</a:t>
            </a:r>
            <a:endParaRPr lang="en-US" sz="1000" dirty="0"/>
          </a:p>
        </p:txBody>
      </p:sp>
      <p:pic>
        <p:nvPicPr>
          <p:cNvPr id="5" name="Image 0" descr="/mnt/user-data/uploads/V1_Sementic_Entro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86384"/>
            <a:ext cx="2743200" cy="1234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0" y="530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V2 - Kernel Language Entropy</a:t>
            </a:r>
            <a:endParaRPr lang="en-US" sz="1000" dirty="0"/>
          </a:p>
        </p:txBody>
      </p:sp>
      <p:pic>
        <p:nvPicPr>
          <p:cNvPr id="7" name="Image 1" descr="/mnt/user-data/uploads/V2_Kernal_Language_Entro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786384"/>
            <a:ext cx="2743200" cy="1234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44768" y="53035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V3 - Perplexity / NLL  ★ Best</a:t>
            </a:r>
            <a:endParaRPr lang="en-US" sz="1000" dirty="0"/>
          </a:p>
        </p:txBody>
      </p:sp>
      <p:pic>
        <p:nvPicPr>
          <p:cNvPr id="9" name="Image 2" descr="/mnt/user-data/uploads/V3_Perplexity_NLL_Features_and_Logistic_Regression_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786384"/>
            <a:ext cx="2743200" cy="16002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6032" y="2468880"/>
            <a:ext cx="863193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6"/>
          <p:cNvSpPr/>
          <p:nvPr/>
        </p:nvSpPr>
        <p:spPr>
          <a:xfrm>
            <a:off x="329184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792224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615184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AUPRC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438144" y="249631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4261104" y="24963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5266944" y="2496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455664" y="24963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Fwd Passes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7644384" y="249631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256032" y="2788920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Shape 15"/>
          <p:cNvSpPr/>
          <p:nvPr/>
        </p:nvSpPr>
        <p:spPr>
          <a:xfrm>
            <a:off x="256032" y="2788920"/>
            <a:ext cx="457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Text 16"/>
          <p:cNvSpPr/>
          <p:nvPr/>
        </p:nvSpPr>
        <p:spPr>
          <a:xfrm>
            <a:off x="329184" y="2880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V1 - Semantic Entropy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792224" y="2880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0.5878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2615184" y="2880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0.5458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438144" y="288036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0.6517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261104" y="2880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0.1053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266944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1,233 ms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455664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644384" y="28803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random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56032" y="3209544"/>
            <a:ext cx="8631936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5"/>
          <p:cNvSpPr/>
          <p:nvPr/>
        </p:nvSpPr>
        <p:spPr>
          <a:xfrm>
            <a:off x="256032" y="3209544"/>
            <a:ext cx="457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6"/>
          <p:cNvSpPr/>
          <p:nvPr/>
        </p:nvSpPr>
        <p:spPr>
          <a:xfrm>
            <a:off x="329184" y="33009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V2 - Kernel Lang. Entropy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792224" y="33009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0.6117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2615184" y="33009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0.6011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438144" y="330098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0.6000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261104" y="33009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0.1622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5266944" y="3300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 ms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455664" y="33009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7644384" y="3300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K=5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256032" y="3630168"/>
            <a:ext cx="8631936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Shape 35"/>
          <p:cNvSpPr/>
          <p:nvPr/>
        </p:nvSpPr>
        <p:spPr>
          <a:xfrm>
            <a:off x="256032" y="3630168"/>
            <a:ext cx="457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6"/>
          <p:cNvSpPr/>
          <p:nvPr/>
        </p:nvSpPr>
        <p:spPr>
          <a:xfrm>
            <a:off x="329184" y="3721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V3 - Perplexity / NLL ★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1792224" y="3721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0.7219</a:t>
            </a:r>
            <a:endParaRPr lang="en-US" sz="1200" dirty="0"/>
          </a:p>
        </p:txBody>
      </p:sp>
      <p:sp>
        <p:nvSpPr>
          <p:cNvPr id="43" name="Text 38"/>
          <p:cNvSpPr/>
          <p:nvPr/>
        </p:nvSpPr>
        <p:spPr>
          <a:xfrm>
            <a:off x="2615184" y="3721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0.7393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3438144" y="37216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0.6582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4261104" y="3721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0.1017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5266944" y="3721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 ms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455664" y="37216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7644384" y="37216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Winner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256032" y="4096512"/>
            <a:ext cx="8631936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5"/>
          <p:cNvSpPr/>
          <p:nvPr/>
        </p:nvSpPr>
        <p:spPr>
          <a:xfrm>
            <a:off x="365760" y="413308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wins with AUROC 0.7219 - 22% above random (0.50), 27× faster than V1 (45.7ms vs 1,233ms), needs only 1 forward pass.  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&amp; V2 near-random </a:t>
            </a: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1.5B - confirms SE/KLE methods designed for 7B+ fail at this scale. Novel finding.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2" name="Text 4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 AUROC = 0.50   |   Feature importances (V3): max_NLL=+0.636, mean_NLL=−0.623   |   ECE: lower = better calibrated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 |  K vs AUROC vs Latency  ·  Reliability Diagrams V2 &amp; V3  |  Visual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21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vs AUROC vs Latency  (V1 &amp; V2)</a:t>
            </a:r>
            <a:endParaRPr lang="en-US" sz="1000" dirty="0"/>
          </a:p>
        </p:txBody>
      </p:sp>
      <p:pic>
        <p:nvPicPr>
          <p:cNvPr id="5" name="Image 0" descr="/mnt/user-data/uploads/k_vs_auroc_latency_Qwen2_5-1_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86384"/>
            <a:ext cx="3108960" cy="2103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2944368"/>
            <a:ext cx="3108960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/>
          <p:nvPr/>
        </p:nvSpPr>
        <p:spPr>
          <a:xfrm>
            <a:off x="320040" y="29626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05256" y="29626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AUROC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490472" y="29626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AUROC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075688" y="29626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lat(ms)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660904" y="296265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 lat(ms)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6032" y="3236976"/>
            <a:ext cx="31089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0"/>
          <p:cNvSpPr/>
          <p:nvPr/>
        </p:nvSpPr>
        <p:spPr>
          <a:xfrm>
            <a:off x="320040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05256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490472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075688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660904" y="3273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56032" y="3529584"/>
            <a:ext cx="310896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6"/>
          <p:cNvSpPr/>
          <p:nvPr/>
        </p:nvSpPr>
        <p:spPr>
          <a:xfrm>
            <a:off x="320040" y="3566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905256" y="3566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490472" y="3566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075688" y="3566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380.7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660904" y="356616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56032" y="3822192"/>
            <a:ext cx="310896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2"/>
          <p:cNvSpPr/>
          <p:nvPr/>
        </p:nvSpPr>
        <p:spPr>
          <a:xfrm>
            <a:off x="320040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05256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490472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75688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1,270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660904" y="385876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56032" y="4114800"/>
            <a:ext cx="3108960" cy="27432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8"/>
          <p:cNvSpPr/>
          <p:nvPr/>
        </p:nvSpPr>
        <p:spPr>
          <a:xfrm>
            <a:off x="320040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05256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490472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2075688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660904" y="4151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56032" y="4443984"/>
            <a:ext cx="3108960" cy="384048"/>
          </a:xfrm>
          <a:prstGeom prst="rect">
            <a:avLst/>
          </a:prstGeom>
          <a:solidFill>
            <a:srgbClr val="D97706">
              <a:alpha val="12000"/>
            </a:srgbClr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7" name="Text 34"/>
          <p:cNvSpPr/>
          <p:nvPr/>
        </p:nvSpPr>
        <p:spPr>
          <a:xfrm>
            <a:off x="320040" y="4462272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K=1 - random · K=3 = 95% accuracy at 40% cost · KLE flat latency (best)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3493008" y="521208"/>
            <a:ext cx="0" cy="43251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Text 36"/>
          <p:cNvSpPr/>
          <p:nvPr/>
        </p:nvSpPr>
        <p:spPr>
          <a:xfrm>
            <a:off x="3611880" y="52120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 - V2 KLE  (ECE = 0.1622)</a:t>
            </a:r>
            <a:endParaRPr lang="en-US" sz="1000" dirty="0"/>
          </a:p>
        </p:txBody>
      </p:sp>
      <p:pic>
        <p:nvPicPr>
          <p:cNvPr id="40" name="Image 1" descr="/mnt/user-data/uploads/reliability_V2_Qwen2_5-1_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786384"/>
            <a:ext cx="2606040" cy="2606040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6336792" y="521208"/>
            <a:ext cx="0" cy="43251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2" name="Text 38"/>
          <p:cNvSpPr/>
          <p:nvPr/>
        </p:nvSpPr>
        <p:spPr>
          <a:xfrm>
            <a:off x="6446520" y="521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 - V3 PPL  (ECE = 0.1017 ★)</a:t>
            </a:r>
            <a:endParaRPr lang="en-US" sz="1000" dirty="0"/>
          </a:p>
        </p:txBody>
      </p:sp>
      <p:pic>
        <p:nvPicPr>
          <p:cNvPr id="43" name="Image 2" descr="/mnt/user-data/uploads/reliability_V3_Qwen2_5-1_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786384"/>
            <a:ext cx="2514600" cy="2606040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3611880" y="3456432"/>
            <a:ext cx="260604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0"/>
          <p:cNvSpPr/>
          <p:nvPr/>
        </p:nvSpPr>
        <p:spPr>
          <a:xfrm>
            <a:off x="3703320" y="3502152"/>
            <a:ext cx="24231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KLE - ECE 0.1622
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line zigzags badly.
At x=0.23 model says 23%
but actual = 67% hallucinated.
</a:t>
            </a: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calibrated - scores not trustworthy.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446520" y="3456432"/>
            <a:ext cx="251460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7" name="Text 42"/>
          <p:cNvSpPr/>
          <p:nvPr/>
        </p:nvSpPr>
        <p:spPr>
          <a:xfrm>
            <a:off x="6537960" y="3502152"/>
            <a:ext cx="23317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PPL - ECE 0.1017 ★
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follows diagonal closely,
especially right half.
At x=0.8 → actual 83% ✓
At x=1.0 → actual 100% ✓
</a:t>
            </a: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calibrated - scores more trustworthy.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9" name="Text 4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diagram: dashed = perfect calibration · closer to diagonal = better · ECE lower = better · KLE latency flat because no NLI calls needed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Qwen2.5-1.5B  |  Cross-Domain Zero-Shot Transfer  ·  Progress &amp; Remaining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56032" y="521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Domain - Actual Output</a:t>
            </a:r>
            <a:endParaRPr lang="en-US" sz="1000" dirty="0"/>
          </a:p>
        </p:txBody>
      </p:sp>
      <p:pic>
        <p:nvPicPr>
          <p:cNvPr id="5" name="Image 0" descr="/mnt/user-data/uploads/Cross-Domain_Zero-Shot_Medical_MedHal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86384"/>
            <a:ext cx="27432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27248" y="5212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Domain - Actual Output</a:t>
            </a:r>
            <a:endParaRPr lang="en-US" sz="1000" dirty="0"/>
          </a:p>
        </p:txBody>
      </p:sp>
      <p:pic>
        <p:nvPicPr>
          <p:cNvPr id="7" name="Image 1" descr="/mnt/user-data/uploads/Cross-Domain_Zero-Shot_-_Leg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786384"/>
            <a:ext cx="2743200" cy="1005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6032" y="2240280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AUROC Summary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56032" y="2496312"/>
            <a:ext cx="5614416" cy="274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6"/>
          <p:cNvSpPr/>
          <p:nvPr/>
        </p:nvSpPr>
        <p:spPr>
          <a:xfrm>
            <a:off x="329184" y="25237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408176" y="25237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SE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487168" y="25237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KLE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66160" y="25237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PPL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45152" y="252374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Δ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56032" y="2807208"/>
            <a:ext cx="56144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2"/>
          <p:cNvSpPr/>
          <p:nvPr/>
        </p:nvSpPr>
        <p:spPr>
          <a:xfrm>
            <a:off x="256032" y="2807208"/>
            <a:ext cx="4572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3"/>
          <p:cNvSpPr/>
          <p:nvPr/>
        </p:nvSpPr>
        <p:spPr>
          <a:xfrm>
            <a:off x="329184" y="292608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408176" y="284378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0.5878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2487168" y="284378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0.6117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566160" y="2843784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0.7219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45152" y="2843784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56032" y="3328416"/>
            <a:ext cx="5614416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Shape 19"/>
          <p:cNvSpPr/>
          <p:nvPr/>
        </p:nvSpPr>
        <p:spPr>
          <a:xfrm>
            <a:off x="256032" y="3328416"/>
            <a:ext cx="45720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0"/>
          <p:cNvSpPr/>
          <p:nvPr/>
        </p:nvSpPr>
        <p:spPr>
          <a:xfrm>
            <a:off x="329184" y="34472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408176" y="336499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0.5456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(−0.04)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2487168" y="336499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0.5066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(−0.11)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3566160" y="3364992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0.4535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(−0.27)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4645152" y="3364992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(−0.04)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256032" y="3849624"/>
            <a:ext cx="5614416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6"/>
          <p:cNvSpPr/>
          <p:nvPr/>
        </p:nvSpPr>
        <p:spPr>
          <a:xfrm>
            <a:off x="256032" y="3849624"/>
            <a:ext cx="45720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7"/>
          <p:cNvSpPr/>
          <p:nvPr/>
        </p:nvSpPr>
        <p:spPr>
          <a:xfrm>
            <a:off x="329184" y="3968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408176" y="388620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2487168" y="388620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3566160" y="3886200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0.7914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(+0.07)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645152" y="3886200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 +0.07 ✓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256032" y="3931920"/>
            <a:ext cx="5614416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7" name="Text 33"/>
          <p:cNvSpPr/>
          <p:nvPr/>
        </p:nvSpPr>
        <p:spPr>
          <a:xfrm>
            <a:off x="365760" y="3977640"/>
            <a:ext cx="539496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degrade. V3 PPL drops most (−0.27) — logistic regression trained on HaluEval, not medical text. V1 SE most robust (−0.04) since clustering is domain-agnostic.
</a:t>
            </a: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Legal: </a:t>
            </a: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PPL improves to 0.7914 (+0.07) — legal proxy uses same HaluEval-style questions, so NLL features transfer well. V1/V2 legal scores blocked by GPU quota.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5989320" y="521208"/>
            <a:ext cx="0" cy="432511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Text 35"/>
          <p:cNvSpPr/>
          <p:nvPr/>
        </p:nvSpPr>
        <p:spPr>
          <a:xfrm>
            <a:off x="6108192" y="52120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 — Qwen2.5-1.5B</a:t>
            </a:r>
            <a:endParaRPr lang="en-US" sz="1000" dirty="0"/>
          </a:p>
        </p:txBody>
      </p:sp>
      <p:sp>
        <p:nvSpPr>
          <p:cNvPr id="40" name="Shape 36"/>
          <p:cNvSpPr/>
          <p:nvPr/>
        </p:nvSpPr>
        <p:spPr>
          <a:xfrm>
            <a:off x="6108192" y="841248"/>
            <a:ext cx="28346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7"/>
          <p:cNvSpPr/>
          <p:nvPr/>
        </p:nvSpPr>
        <p:spPr>
          <a:xfrm>
            <a:off x="6181344" y="9144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V1 SE · AUROC 0.5878 · ECE 0.1053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6108192" y="1252728"/>
            <a:ext cx="28346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3" name="Text 39"/>
          <p:cNvSpPr/>
          <p:nvPr/>
        </p:nvSpPr>
        <p:spPr>
          <a:xfrm>
            <a:off x="6181344" y="13258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V2 KLE · AUROC 0.6117 · ECE 0.1622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6108192" y="1664208"/>
            <a:ext cx="28346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Text 41"/>
          <p:cNvSpPr/>
          <p:nvPr/>
        </p:nvSpPr>
        <p:spPr>
          <a:xfrm>
            <a:off x="6181344" y="17373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V3 PPL ★ · AUROC 0.7219 · ECE 0.1017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6108192" y="2075688"/>
            <a:ext cx="28346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7" name="Text 43"/>
          <p:cNvSpPr/>
          <p:nvPr/>
        </p:nvSpPr>
        <p:spPr>
          <a:xfrm>
            <a:off x="6181344" y="214884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K-curve (K=1,3,5,7)</a:t>
            </a:r>
            <a:endParaRPr lang="en-US" sz="900" dirty="0"/>
          </a:p>
        </p:txBody>
      </p:sp>
      <p:sp>
        <p:nvSpPr>
          <p:cNvPr id="48" name="Shape 44"/>
          <p:cNvSpPr/>
          <p:nvPr/>
        </p:nvSpPr>
        <p:spPr>
          <a:xfrm>
            <a:off x="6108192" y="2487168"/>
            <a:ext cx="28346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9" name="Text 45"/>
          <p:cNvSpPr/>
          <p:nvPr/>
        </p:nvSpPr>
        <p:spPr>
          <a:xfrm>
            <a:off x="6181344" y="256032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Reliability diagrams (V2 &amp; V3)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6108192" y="2898648"/>
            <a:ext cx="283464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1" name="Text 47"/>
          <p:cNvSpPr/>
          <p:nvPr/>
        </p:nvSpPr>
        <p:spPr>
          <a:xfrm>
            <a:off x="6181344" y="297180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Medical cross-domain (all 3)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6108192" y="3310128"/>
            <a:ext cx="283464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3" name="Text 49"/>
          <p:cNvSpPr/>
          <p:nvPr/>
        </p:nvSpPr>
        <p:spPr>
          <a:xfrm>
            <a:off x="6181344" y="338328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Legal V3 PPL = 0.7914 (+0.07)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6108192" y="3749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Still Remaining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6181344" y="404164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Legal SE+KLE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8229600" y="40416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 GPU</a:t>
            </a:r>
            <a:endParaRPr lang="en-US" sz="800" dirty="0"/>
          </a:p>
        </p:txBody>
      </p:sp>
      <p:sp>
        <p:nvSpPr>
          <p:cNvPr id="57" name="Text 53"/>
          <p:cNvSpPr/>
          <p:nvPr/>
        </p:nvSpPr>
        <p:spPr>
          <a:xfrm>
            <a:off x="6181344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Llama-3.2-1B pipeline</a:t>
            </a:r>
            <a:endParaRPr lang="en-US" sz="900" dirty="0"/>
          </a:p>
        </p:txBody>
      </p:sp>
      <p:sp>
        <p:nvSpPr>
          <p:cNvPr id="58" name="Text 54"/>
          <p:cNvSpPr/>
          <p:nvPr/>
        </p:nvSpPr>
        <p:spPr>
          <a:xfrm>
            <a:off x="8229600" y="424281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hrs GPU</a:t>
            </a:r>
            <a:endParaRPr lang="en-US" sz="800" dirty="0"/>
          </a:p>
        </p:txBody>
      </p:sp>
      <p:sp>
        <p:nvSpPr>
          <p:cNvPr id="59" name="Text 55"/>
          <p:cNvSpPr/>
          <p:nvPr/>
        </p:nvSpPr>
        <p:spPr>
          <a:xfrm>
            <a:off x="6181344" y="44439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Llama-3.2-3B pipeline</a:t>
            </a:r>
            <a:endParaRPr lang="en-US" sz="900" dirty="0"/>
          </a:p>
        </p:txBody>
      </p:sp>
      <p:sp>
        <p:nvSpPr>
          <p:cNvPr id="60" name="Text 56"/>
          <p:cNvSpPr/>
          <p:nvPr/>
        </p:nvSpPr>
        <p:spPr>
          <a:xfrm>
            <a:off x="8229600" y="444398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~10–12 hrs GPU</a:t>
            </a:r>
            <a:endParaRPr lang="en-US" sz="800" dirty="0"/>
          </a:p>
        </p:txBody>
      </p:sp>
      <p:sp>
        <p:nvSpPr>
          <p:cNvPr id="61" name="Text 57"/>
          <p:cNvSpPr/>
          <p:nvPr/>
        </p:nvSpPr>
        <p:spPr>
          <a:xfrm>
            <a:off x="6181344" y="4645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Final table + chart</a:t>
            </a:r>
            <a:endParaRPr lang="en-US" sz="900" dirty="0"/>
          </a:p>
        </p:txBody>
      </p:sp>
      <p:sp>
        <p:nvSpPr>
          <p:cNvPr id="62" name="Text 58"/>
          <p:cNvSpPr/>
          <p:nvPr/>
        </p:nvSpPr>
        <p:spPr>
          <a:xfrm>
            <a:off x="8229600" y="46451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hr (no GPU)</a:t>
            </a:r>
            <a:endParaRPr lang="en-US" sz="800" dirty="0"/>
          </a:p>
        </p:txBody>
      </p:sp>
      <p:sp>
        <p:nvSpPr>
          <p:cNvPr id="63" name="Shape 5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4" name="Text 6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Qwen results saved to Google Drive  ·  GPU hours used: ~45–50 hrs  ·  Remaining: ~22–25 hrs T4 GPU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</TotalTime>
  <Words>663</Words>
  <Application>Microsoft Macintosh PowerPoint</Application>
  <PresentationFormat>On-screen Show (16:9)</PresentationFormat>
  <Paragraphs>121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sreenivas Putta</cp:lastModifiedBy>
  <cp:revision>2</cp:revision>
  <dcterms:created xsi:type="dcterms:W3CDTF">2026-05-27T11:15:46Z</dcterms:created>
  <dcterms:modified xsi:type="dcterms:W3CDTF">2026-05-27T16:51:26Z</dcterms:modified>
</cp:coreProperties>
</file>